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434" y="-1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7E4BB-5380-49F7-8FF8-ADC5B6EBE4B3}" type="datetimeFigureOut">
              <a:rPr lang="fa-IR" smtClean="0"/>
              <a:t>25/02/1448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6C86-03BC-4251-A67E-6509698675A0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9415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7E4BB-5380-49F7-8FF8-ADC5B6EBE4B3}" type="datetimeFigureOut">
              <a:rPr lang="fa-IR" smtClean="0"/>
              <a:t>25/02/1448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6C86-03BC-4251-A67E-6509698675A0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93322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7E4BB-5380-49F7-8FF8-ADC5B6EBE4B3}" type="datetimeFigureOut">
              <a:rPr lang="fa-IR" smtClean="0"/>
              <a:t>25/02/1448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6C86-03BC-4251-A67E-6509698675A0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188930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7E4BB-5380-49F7-8FF8-ADC5B6EBE4B3}" type="datetimeFigureOut">
              <a:rPr lang="fa-IR" smtClean="0"/>
              <a:t>25/02/1448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6C86-03BC-4251-A67E-6509698675A0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84519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7E4BB-5380-49F7-8FF8-ADC5B6EBE4B3}" type="datetimeFigureOut">
              <a:rPr lang="fa-IR" smtClean="0"/>
              <a:t>25/02/1448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6C86-03BC-4251-A67E-6509698675A0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947521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7E4BB-5380-49F7-8FF8-ADC5B6EBE4B3}" type="datetimeFigureOut">
              <a:rPr lang="fa-IR" smtClean="0"/>
              <a:t>25/02/1448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6C86-03BC-4251-A67E-6509698675A0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58296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7E4BB-5380-49F7-8FF8-ADC5B6EBE4B3}" type="datetimeFigureOut">
              <a:rPr lang="fa-IR" smtClean="0"/>
              <a:t>25/02/1448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6C86-03BC-4251-A67E-6509698675A0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62096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7E4BB-5380-49F7-8FF8-ADC5B6EBE4B3}" type="datetimeFigureOut">
              <a:rPr lang="fa-IR" smtClean="0"/>
              <a:t>25/02/1448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6C86-03BC-4251-A67E-6509698675A0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92498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7E4BB-5380-49F7-8FF8-ADC5B6EBE4B3}" type="datetimeFigureOut">
              <a:rPr lang="fa-IR" smtClean="0"/>
              <a:t>25/02/1448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6C86-03BC-4251-A67E-6509698675A0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76710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7E4BB-5380-49F7-8FF8-ADC5B6EBE4B3}" type="datetimeFigureOut">
              <a:rPr lang="fa-IR" smtClean="0"/>
              <a:t>25/02/1448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6C86-03BC-4251-A67E-6509698675A0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47817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7E4BB-5380-49F7-8FF8-ADC5B6EBE4B3}" type="datetimeFigureOut">
              <a:rPr lang="fa-IR" smtClean="0"/>
              <a:t>25/02/1448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6C86-03BC-4251-A67E-6509698675A0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0208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7E4BB-5380-49F7-8FF8-ADC5B6EBE4B3}" type="datetimeFigureOut">
              <a:rPr lang="fa-IR" smtClean="0"/>
              <a:t>25/02/1448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C6C86-03BC-4251-A67E-6509698675A0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630912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12.png"/><Relationship Id="rId17" Type="http://schemas.microsoft.com/office/2007/relationships/hdphoto" Target="../media/hdphoto8.wdp"/><Relationship Id="rId2" Type="http://schemas.openxmlformats.org/officeDocument/2006/relationships/image" Target="../media/image7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microsoft.com/office/2007/relationships/hdphoto" Target="../media/hdphoto4.wdp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01D26F-432C-46F8-BC9B-912533A90FB2}"/>
              </a:ext>
            </a:extLst>
          </p:cNvPr>
          <p:cNvSpPr txBox="1"/>
          <p:nvPr/>
        </p:nvSpPr>
        <p:spPr>
          <a:xfrm>
            <a:off x="474562" y="459077"/>
            <a:ext cx="5926237" cy="858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1600" b="1" dirty="0">
                <a:cs typeface="B Badr" panose="00000400000000000000" pitchFamily="2" charset="-78"/>
              </a:rPr>
              <a:t>شرکت مهندسین مشاور ناجی سازان امین</a:t>
            </a:r>
          </a:p>
          <a:p>
            <a:pPr algn="just" rtl="1">
              <a:lnSpc>
                <a:spcPct val="150000"/>
              </a:lnSpc>
            </a:pPr>
            <a:r>
              <a:rPr lang="fa-IR" sz="1600" b="1" dirty="0">
                <a:cs typeface="B Badr" panose="00000400000000000000" pitchFamily="2" charset="-78"/>
              </a:rPr>
              <a:t>تجربه، تخصص و تعهد؛ سه رکن ماندگار در مسیر توسعه صنعت عمرانی کشور</a:t>
            </a:r>
          </a:p>
          <a:p>
            <a:pPr algn="just" rtl="1">
              <a:lnSpc>
                <a:spcPct val="150000"/>
              </a:lnSpc>
            </a:pPr>
            <a:r>
              <a:rPr lang="fa-IR" sz="1600" b="1" dirty="0">
                <a:cs typeface="B Badr" panose="00000400000000000000" pitchFamily="2" charset="-78"/>
              </a:rPr>
              <a:t>شرکت مهندسین مشاور ناجی سازان امین فعالیت خود را از سال ۱۳۸۳ آغاز کرد و طی بیش از دو دهه حضور مستمر در صنعت ساختمان و پروژه‌های عمرانی، با تکیه بر دانش فنی، سرمایه انسانی متخصص و پایبندی به اصول حرفه‌ای مهندسی، جایگاه خود را به عنوان مجموعه‌ای توانمند در ارائه خدمات مشاوره، طراحی، نظارت و مدیریت پروژه تثبیت کرده است.</a:t>
            </a:r>
          </a:p>
          <a:p>
            <a:pPr algn="just" rtl="1">
              <a:lnSpc>
                <a:spcPct val="150000"/>
              </a:lnSpc>
            </a:pPr>
            <a:r>
              <a:rPr lang="fa-IR" sz="1600" b="1" dirty="0">
                <a:cs typeface="B Badr" panose="00000400000000000000" pitchFamily="2" charset="-78"/>
              </a:rPr>
              <a:t>این مجموعه با تمرکز بر خدمات مهندسین مشاور، مسیر توسعه خود را با رویکردی تخصص ‌محور با حضور در طراحی و نظارت پروژه‌های شاخص، سازه‌های بلندمرتبه و پروژه‌های خاص تجاری وو مسکونی ، توانست تجربه‌ای ارزشمند در اجرای پروژه‌های ملی و منطقه‌ای کسب کند. توسعه دامنه خدمات به استان‌های مختلف کشور و استقرار دفاتر فنی و نظارتی در محل اجرای پروژه‌ها، بیانگر رویکرد این مجموعه در ارائه خدمات دقیق، مستمر و مسئولانه است.</a:t>
            </a:r>
          </a:p>
          <a:p>
            <a:pPr algn="just" rtl="1">
              <a:lnSpc>
                <a:spcPct val="150000"/>
              </a:lnSpc>
            </a:pPr>
            <a:r>
              <a:rPr lang="fa-IR" sz="1600" b="1" dirty="0">
                <a:cs typeface="B Badr" panose="00000400000000000000" pitchFamily="2" charset="-78"/>
              </a:rPr>
              <a:t>پایبندی به کیفیت و توسعه مستمر، همواره از اصول بنیادین موسسه بوده است و اخذ پروانه حقوقی پایه یک طراحی و نظارت از وزارت راه و شهرسازی و سازمان برنامه و بودجه ، دریافت مدال برنزین جایزه ملی بقراط ، استقرار سیستم مدیریت کیفیت و اخذ گواهینامه </a:t>
            </a:r>
            <a:r>
              <a:rPr lang="en-US" sz="1600" b="1" dirty="0">
                <a:cs typeface="B Badr" panose="00000400000000000000" pitchFamily="2" charset="-78"/>
              </a:rPr>
              <a:t>ISO 9001، </a:t>
            </a:r>
            <a:r>
              <a:rPr lang="fa-IR" sz="1600" b="1" dirty="0">
                <a:cs typeface="B Badr" panose="00000400000000000000" pitchFamily="2" charset="-78"/>
              </a:rPr>
              <a:t>دریافت و ارتقای گواهینامه سمتا ، عضویت در انجمن بتن ایران و تجهیز آزمایشگاه تخصصی ، بخشی از دستاوردهای این مجموعه در مسیر ارتقای استانداردهای حرفه‌ای و سازمانی به شمار می‌رود.</a:t>
            </a:r>
          </a:p>
          <a:p>
            <a:pPr algn="just" rtl="1">
              <a:lnSpc>
                <a:spcPct val="150000"/>
              </a:lnSpc>
            </a:pPr>
            <a:r>
              <a:rPr lang="fa-IR" sz="1600" b="1" dirty="0">
                <a:cs typeface="B Badr" panose="00000400000000000000" pitchFamily="2" charset="-78"/>
              </a:rPr>
              <a:t>امروز، مهندسین مشاور ناجی سازان امین با پشتوانه سال‌ها تجربه و با این باور که اعتماد کارفرمایان، بزرگ‌ترین سرمایه هر سازمان و ماندگارترین دستاورد آن است با بهره‌گیری از دانش روز مهندسی و اعتقاد راسخ به کیفیت، دقت و مسئولیت‌پذیری، آماده ارائه خدمات تخصصی در حوزه طراحی، نظارت، مدیریت طرح، کنترل پروژه و مشاوره مهندسی در سراسر کشور می باشد . </a:t>
            </a:r>
          </a:p>
        </p:txBody>
      </p:sp>
    </p:spTree>
    <p:extLst>
      <p:ext uri="{BB962C8B-B14F-4D97-AF65-F5344CB8AC3E}">
        <p14:creationId xmlns:p14="http://schemas.microsoft.com/office/powerpoint/2010/main" val="1223309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7D2DDF-C482-447E-B2F4-607A5569B33C}"/>
              </a:ext>
            </a:extLst>
          </p:cNvPr>
          <p:cNvSpPr txBox="1"/>
          <p:nvPr/>
        </p:nvSpPr>
        <p:spPr>
          <a:xfrm>
            <a:off x="474562" y="459077"/>
            <a:ext cx="5926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1600" b="1" u="sng" dirty="0">
                <a:cs typeface="B Badr" panose="00000400000000000000" pitchFamily="2" charset="-78"/>
              </a:rPr>
              <a:t>حوزه های فعالیت مهندسین مشاور ناجی سازان امین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B70C18-8472-419A-BC3E-E419BF606AD0}"/>
              </a:ext>
            </a:extLst>
          </p:cNvPr>
          <p:cNvSpPr txBox="1"/>
          <p:nvPr/>
        </p:nvSpPr>
        <p:spPr>
          <a:xfrm>
            <a:off x="465881" y="920742"/>
            <a:ext cx="592623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1">
              <a:lnSpc>
                <a:spcPct val="150000"/>
              </a:lnSpc>
              <a:buFontTx/>
              <a:buChar char="-"/>
            </a:pPr>
            <a:r>
              <a:rPr lang="fa-IR" sz="1600" dirty="0">
                <a:cs typeface="B Badr" panose="00000400000000000000" pitchFamily="2" charset="-78"/>
              </a:rPr>
              <a:t>مشـاوره و طراحی :  مسکونی، تجاری، اداری، مذهب ، نظامی، تفریحی، رفاهی، فرهنگی، ورزشی، طراحی شهری و ...</a:t>
            </a:r>
          </a:p>
          <a:p>
            <a:pPr marL="285750" indent="-285750" algn="just" rtl="1">
              <a:lnSpc>
                <a:spcPct val="150000"/>
              </a:lnSpc>
              <a:buFontTx/>
              <a:buChar char="-"/>
            </a:pPr>
            <a:r>
              <a:rPr lang="fa-IR" sz="1600" dirty="0">
                <a:cs typeface="B Badr" panose="00000400000000000000" pitchFamily="2" charset="-78"/>
              </a:rPr>
              <a:t>نظـــــــارت :  کارگاهی و عالیه</a:t>
            </a:r>
          </a:p>
          <a:p>
            <a:pPr marL="285750" indent="-285750" algn="just" rtl="1">
              <a:lnSpc>
                <a:spcPct val="150000"/>
              </a:lnSpc>
              <a:buFontTx/>
              <a:buChar char="-"/>
            </a:pPr>
            <a:r>
              <a:rPr lang="fa-IR" sz="1600" dirty="0">
                <a:cs typeface="B Badr" panose="00000400000000000000" pitchFamily="2" charset="-78"/>
              </a:rPr>
              <a:t>کنتــرل پــروژه :  تهیه و بررسی برنامه زمانبندی، کنترل پیشرفت پروژه ها،تهیه و ارائه گزارشات و بررسی تاخیرات</a:t>
            </a:r>
          </a:p>
          <a:p>
            <a:pPr marL="285750" indent="-285750" algn="just" rtl="1">
              <a:lnSpc>
                <a:spcPct val="150000"/>
              </a:lnSpc>
              <a:buFontTx/>
              <a:buChar char="-"/>
            </a:pPr>
            <a:r>
              <a:rPr lang="fa-IR" sz="1600" dirty="0">
                <a:cs typeface="B Badr" panose="00000400000000000000" pitchFamily="2" charset="-78"/>
              </a:rPr>
              <a:t>خدمات آزمایشگاهی : ژئوتکنیک ، بتن ، میلگرد ، جوش و شیمی</a:t>
            </a:r>
          </a:p>
          <a:p>
            <a:pPr marL="285750" indent="-285750" algn="just" rtl="1">
              <a:lnSpc>
                <a:spcPct val="150000"/>
              </a:lnSpc>
              <a:buFontTx/>
              <a:buChar char="-"/>
            </a:pPr>
            <a:endParaRPr lang="fa-IR" sz="1600" dirty="0">
              <a:cs typeface="B Badr" panose="000004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223127-A454-4CF2-958C-DB5B1A57C67A}"/>
              </a:ext>
            </a:extLst>
          </p:cNvPr>
          <p:cNvSpPr txBox="1"/>
          <p:nvPr/>
        </p:nvSpPr>
        <p:spPr>
          <a:xfrm>
            <a:off x="476414" y="3367565"/>
            <a:ext cx="592623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b="1" u="sng" dirty="0">
                <a:cs typeface="B Badr" panose="00000400000000000000" pitchFamily="2" charset="-78"/>
              </a:rPr>
              <a:t>پروژه های شاخص طراحی شده  </a:t>
            </a:r>
          </a:p>
        </p:txBody>
      </p:sp>
      <p:pic>
        <p:nvPicPr>
          <p:cNvPr id="5" name="Picture 2" descr="C:\Users\463763614\Desktop\ax portfolio\mobin net\01.jpg">
            <a:extLst>
              <a:ext uri="{FF2B5EF4-FFF2-40B4-BE49-F238E27FC236}">
                <a16:creationId xmlns:a16="http://schemas.microsoft.com/office/drawing/2014/main" id="{3A6517E4-F7C9-4987-909E-7016057BB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54" y="6165160"/>
            <a:ext cx="3103544" cy="1745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463763614\Desktop\ax portfolio\farancssdsda.jpg">
            <a:extLst>
              <a:ext uri="{FF2B5EF4-FFF2-40B4-BE49-F238E27FC236}">
                <a16:creationId xmlns:a16="http://schemas.microsoft.com/office/drawing/2014/main" id="{7E9E253E-3335-42C7-885B-4705ECF97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54" y="4398817"/>
            <a:ext cx="3103545" cy="141167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C:\Users\463763614\Desktop\ax portfolio\hotel modaressi esfehaan (1).jpg">
            <a:extLst>
              <a:ext uri="{FF2B5EF4-FFF2-40B4-BE49-F238E27FC236}">
                <a16:creationId xmlns:a16="http://schemas.microsoft.com/office/drawing/2014/main" id="{DBED66DA-F6A7-43BC-9C43-8818791B7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688" y="6698171"/>
            <a:ext cx="2711084" cy="167999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E4510D-A5B2-4491-835B-F67A9A3563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999" y="4398817"/>
            <a:ext cx="2711084" cy="20975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9D4299-E779-4C63-84DF-E08BC998B5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504" y="8396222"/>
            <a:ext cx="3057452" cy="16809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3F0256-BCD5-4B68-AC78-ED665C0038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8" y="8265572"/>
            <a:ext cx="3057452" cy="156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895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E3F6A5-64EB-45AD-9C56-3BF95AEB59B7}"/>
              </a:ext>
            </a:extLst>
          </p:cNvPr>
          <p:cNvSpPr txBox="1"/>
          <p:nvPr/>
        </p:nvSpPr>
        <p:spPr>
          <a:xfrm>
            <a:off x="476414" y="693811"/>
            <a:ext cx="592623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b="1" u="sng" dirty="0">
                <a:cs typeface="B Badr" panose="00000400000000000000" pitchFamily="2" charset="-78"/>
              </a:rPr>
              <a:t>پروژه های نظارت </a:t>
            </a:r>
          </a:p>
        </p:txBody>
      </p:sp>
      <p:pic>
        <p:nvPicPr>
          <p:cNvPr id="6" name="Picture 9" descr="C:\Users\463763614\Desktop\عکس منتخب\ارگ کیش.JPG">
            <a:extLst>
              <a:ext uri="{FF2B5EF4-FFF2-40B4-BE49-F238E27FC236}">
                <a16:creationId xmlns:a16="http://schemas.microsoft.com/office/drawing/2014/main" id="{932AF949-B690-4D6C-8087-B015474F67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413" t="1175" r="7413" b="9379"/>
          <a:stretch/>
        </p:blipFill>
        <p:spPr bwMode="auto">
          <a:xfrm>
            <a:off x="3738610" y="1431675"/>
            <a:ext cx="2784230" cy="194039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463763614\Desktop\ax\03\6.jpg">
            <a:extLst>
              <a:ext uri="{FF2B5EF4-FFF2-40B4-BE49-F238E27FC236}">
                <a16:creationId xmlns:a16="http://schemas.microsoft.com/office/drawing/2014/main" id="{78A11FDE-711A-4EAD-AFDF-867F974FCD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434" r="31424"/>
          <a:stretch/>
        </p:blipFill>
        <p:spPr bwMode="auto">
          <a:xfrm>
            <a:off x="494379" y="1451623"/>
            <a:ext cx="1186236" cy="208952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" descr="C:\Users\463763614\Desktop\عکس منتخب\شقایق ساری.png">
            <a:extLst>
              <a:ext uri="{FF2B5EF4-FFF2-40B4-BE49-F238E27FC236}">
                <a16:creationId xmlns:a16="http://schemas.microsoft.com/office/drawing/2014/main" id="{D1F01657-13D9-4D6B-9146-4535AABE1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557493" y="3980841"/>
            <a:ext cx="2554872" cy="1684952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CB4ECF-87B6-4436-8FBB-67CAEDF02AD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5737"/>
          <a:stretch/>
        </p:blipFill>
        <p:spPr>
          <a:xfrm>
            <a:off x="2002739" y="1431675"/>
            <a:ext cx="1213868" cy="2089520"/>
          </a:xfrm>
          <a:prstGeom prst="rect">
            <a:avLst/>
          </a:prstGeom>
        </p:spPr>
      </p:pic>
      <p:pic>
        <p:nvPicPr>
          <p:cNvPr id="15" name="Picture 9" descr="C:\Users\463763614\Desktop\عکس\بوستان پردیس پونک\عکس\9.JPG">
            <a:extLst>
              <a:ext uri="{FF2B5EF4-FFF2-40B4-BE49-F238E27FC236}">
                <a16:creationId xmlns:a16="http://schemas.microsoft.com/office/drawing/2014/main" id="{3FFEBF97-1D5E-4B45-A81F-8928E5FD4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302" y="6271831"/>
            <a:ext cx="2554873" cy="1703248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DD289E-592C-4D18-859D-D05BA7A4E36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610" y="3769676"/>
            <a:ext cx="2810260" cy="21072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4EDA7F0-0C76-4B59-B3DB-B1B809D0B7C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932" y="6271831"/>
            <a:ext cx="2395490" cy="17962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B40A0F-02A0-423D-BD6B-40A6DC392F4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20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520" y="8537049"/>
            <a:ext cx="3459480" cy="194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4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2E37CB5-B42E-4938-899B-CFC2CF2EA9A7}"/>
              </a:ext>
            </a:extLst>
          </p:cNvPr>
          <p:cNvSpPr txBox="1"/>
          <p:nvPr/>
        </p:nvSpPr>
        <p:spPr>
          <a:xfrm>
            <a:off x="-894786" y="3470391"/>
            <a:ext cx="7480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b="1" u="sng" dirty="0">
                <a:cs typeface="B Badr" panose="00000400000000000000" pitchFamily="2" charset="-78"/>
              </a:rPr>
              <a:t>مدیر عامل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0D6767-5FFA-401A-80D7-A83E87E5DDE0}"/>
              </a:ext>
            </a:extLst>
          </p:cNvPr>
          <p:cNvSpPr/>
          <p:nvPr/>
        </p:nvSpPr>
        <p:spPr>
          <a:xfrm>
            <a:off x="3957384" y="3607938"/>
            <a:ext cx="13480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000" b="1" dirty="0">
                <a:cs typeface="B Badr" panose="00000400000000000000" pitchFamily="2" charset="-78"/>
              </a:rPr>
              <a:t>محمد منزوی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B1C043-3037-4356-BFAD-0FA33AA2166D}"/>
              </a:ext>
            </a:extLst>
          </p:cNvPr>
          <p:cNvSpPr txBox="1"/>
          <p:nvPr/>
        </p:nvSpPr>
        <p:spPr>
          <a:xfrm>
            <a:off x="1653123" y="4299483"/>
            <a:ext cx="4832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fa-IR" sz="1400" dirty="0">
                <a:latin typeface="IranNastaliq" panose="02020505000000020003" pitchFamily="18" charset="0"/>
                <a:cs typeface="2  Nazanin" panose="00000400000000000000" pitchFamily="2" charset="-78"/>
              </a:rPr>
              <a:t>آخرين مدرك تحصيلي :    فوق ليسانس معماري از دانشگاه تهران </a:t>
            </a:r>
            <a:endParaRPr lang="fa-IR" sz="1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6AAFC5B-E042-4E1A-A7EB-6E57C5D7B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967" y="449175"/>
            <a:ext cx="2337906" cy="3118077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A3CFDDED-D9CC-4003-872C-FEA9727CE376}"/>
              </a:ext>
            </a:extLst>
          </p:cNvPr>
          <p:cNvSpPr/>
          <p:nvPr/>
        </p:nvSpPr>
        <p:spPr>
          <a:xfrm>
            <a:off x="830907" y="4717189"/>
            <a:ext cx="5655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a-IR" sz="1600" dirty="0">
                <a:latin typeface="IranNastaliq" panose="02020505000000020003" pitchFamily="18" charset="0"/>
                <a:cs typeface="2  Nazanin" panose="00000400000000000000" pitchFamily="2" charset="-78"/>
              </a:rPr>
              <a:t> پروانه اشتغال ارشد : نظارت ، طراحی و اجرا با 32 سال سابقه کار مدیریتی و اجرائی </a:t>
            </a:r>
            <a:endParaRPr lang="en-US" sz="1600" dirty="0">
              <a:latin typeface="IranNastaliq" panose="02020505000000020003" pitchFamily="18" charset="0"/>
              <a:cs typeface="2  Nazanin" panose="00000400000000000000" pitchFamily="2" charset="-78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D282E7-EB62-4420-A451-C6536AC3C735}"/>
              </a:ext>
            </a:extLst>
          </p:cNvPr>
          <p:cNvSpPr/>
          <p:nvPr/>
        </p:nvSpPr>
        <p:spPr>
          <a:xfrm>
            <a:off x="147320" y="5002518"/>
            <a:ext cx="656336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a-IR" sz="2400" b="1" dirty="0">
                <a:ln w="12700" cmpd="sng">
                  <a:noFill/>
                  <a:prstDash val="solid"/>
                </a:ln>
                <a:solidFill>
                  <a:sysClr val="windowText" lastClr="000000"/>
                </a:solidFill>
                <a:latin typeface="Copperplate Gothic Bold" pitchFamily="34" charset="0"/>
                <a:cs typeface="2  Nazanin" panose="00000400000000000000" pitchFamily="2" charset="-78"/>
              </a:rPr>
              <a:t>سوابق مديريتي:</a:t>
            </a:r>
            <a:endParaRPr lang="fa-IR" sz="2400" b="1" dirty="0">
              <a:ln w="12700" cmpd="sng">
                <a:noFill/>
                <a:prstDash val="solid"/>
              </a:ln>
              <a:solidFill>
                <a:sysClr val="windowText" lastClr="000000"/>
              </a:solidFill>
              <a:latin typeface="IranNastaliq" panose="02020505000000020003" pitchFamily="18" charset="0"/>
              <a:cs typeface="2  Nazanin" panose="00000400000000000000" pitchFamily="2" charset="-78"/>
            </a:endParaRPr>
          </a:p>
          <a:p>
            <a:pPr algn="r" rtl="1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fa-IR" sz="1600" dirty="0">
                <a:solidFill>
                  <a:sysClr val="windowText" lastClr="000000"/>
                </a:solidFill>
                <a:cs typeface="2  Nazanin" panose="00000400000000000000" pitchFamily="2" charset="-78"/>
              </a:rPr>
              <a:t>-  معاونت اجرایی وقائم مقام مهندسين مشاور پايدار جهان از سال  1373 الي 1377</a:t>
            </a:r>
          </a:p>
          <a:p>
            <a:pPr algn="r" rtl="1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fa-IR" sz="1600" dirty="0">
                <a:solidFill>
                  <a:sysClr val="windowText" lastClr="000000"/>
                </a:solidFill>
                <a:cs typeface="2  Nazanin" panose="00000400000000000000" pitchFamily="2" charset="-78"/>
              </a:rPr>
              <a:t>-  عضو هيئت مديره و مدير عامل مهندسين مشاور پایدار جهان از سال 1377 الي 1380</a:t>
            </a:r>
          </a:p>
          <a:p>
            <a:pPr algn="r" rtl="1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fa-IR" sz="1600" dirty="0">
                <a:solidFill>
                  <a:sysClr val="windowText" lastClr="000000"/>
                </a:solidFill>
                <a:cs typeface="2  Nazanin" panose="00000400000000000000" pitchFamily="2" charset="-78"/>
              </a:rPr>
              <a:t>-  عضو هيئت مديره و مدير عامل شركت پیمانکاری نوسازي و عمران اميد ري از سال </a:t>
            </a:r>
          </a:p>
          <a:p>
            <a:pPr algn="r" rtl="1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fa-IR" sz="1600" dirty="0">
                <a:solidFill>
                  <a:sysClr val="windowText" lastClr="000000"/>
                </a:solidFill>
                <a:cs typeface="2  Nazanin" panose="00000400000000000000" pitchFamily="2" charset="-78"/>
              </a:rPr>
              <a:t>  1379 الي 1383  </a:t>
            </a:r>
          </a:p>
          <a:p>
            <a:pPr algn="r" rtl="1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fa-IR" sz="1600" dirty="0">
                <a:solidFill>
                  <a:sysClr val="windowText" lastClr="000000"/>
                </a:solidFill>
                <a:cs typeface="2  Nazanin" panose="00000400000000000000" pitchFamily="2" charset="-78"/>
              </a:rPr>
              <a:t>-  رئیس هیئت مدیره و مدیر عامل شرکت پیمانکاری سازه گستر ری از سال وابسطه به آستان مقدس</a:t>
            </a:r>
          </a:p>
          <a:p>
            <a:pPr algn="r" rtl="1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fa-IR" sz="1600" dirty="0">
                <a:solidFill>
                  <a:sysClr val="windowText" lastClr="000000"/>
                </a:solidFill>
                <a:cs typeface="2  Nazanin" panose="00000400000000000000" pitchFamily="2" charset="-78"/>
              </a:rPr>
              <a:t>  حضرت عبدالعظیم حسنی (ع) اسال 1383 الی 1389 </a:t>
            </a:r>
          </a:p>
          <a:p>
            <a:pPr algn="r" rtl="1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fa-IR" sz="1600" dirty="0">
                <a:solidFill>
                  <a:sysClr val="windowText" lastClr="000000"/>
                </a:solidFill>
                <a:cs typeface="2  Nazanin" panose="00000400000000000000" pitchFamily="2" charset="-78"/>
              </a:rPr>
              <a:t>-  رئيس  هيئت مديره  تعاوني مسكن  آستان مقدس  حضرت  عبدالعظيم الحسني(ع)  ازسال </a:t>
            </a:r>
          </a:p>
          <a:p>
            <a:pPr algn="r" rtl="1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fa-IR" sz="1600" dirty="0">
                <a:solidFill>
                  <a:sysClr val="windowText" lastClr="000000"/>
                </a:solidFill>
                <a:cs typeface="2  Nazanin" panose="00000400000000000000" pitchFamily="2" charset="-78"/>
              </a:rPr>
              <a:t>  1381 الی 1390 </a:t>
            </a:r>
          </a:p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r>
              <a:rPr lang="fa-IR" sz="1600" dirty="0">
                <a:solidFill>
                  <a:sysClr val="windowText" lastClr="000000"/>
                </a:solidFill>
                <a:cs typeface="2  Nazanin" panose="00000400000000000000" pitchFamily="2" charset="-78"/>
              </a:rPr>
              <a:t>-  مجری طرح های عمرانی شرکت هواپیمائی ایران ایرتور از سال   1386  الی 1390</a:t>
            </a:r>
          </a:p>
          <a:p>
            <a:pPr algn="r" rtl="1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fa-IR" sz="1600" dirty="0">
                <a:solidFill>
                  <a:sysClr val="windowText" lastClr="000000"/>
                </a:solidFill>
                <a:cs typeface="2  Nazanin" panose="00000400000000000000" pitchFamily="2" charset="-78"/>
              </a:rPr>
              <a:t>-  مدیریت طراحی ، فنی و نظارت و عضو کارگروه محتوائی موزه های جنگ دفاع مقدس سازمان </a:t>
            </a:r>
          </a:p>
          <a:p>
            <a:pPr algn="r" rtl="1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fa-IR" sz="1600" dirty="0">
                <a:solidFill>
                  <a:sysClr val="windowText" lastClr="000000"/>
                </a:solidFill>
                <a:cs typeface="2  Nazanin" panose="00000400000000000000" pitchFamily="2" charset="-78"/>
              </a:rPr>
              <a:t>   امور موزه ها ویادمانهای دفاع مقدس بنیاد حفظ اثار و  نشر ارزشهای دفاع  مقدس از سال  1392  </a:t>
            </a:r>
          </a:p>
          <a:p>
            <a:pPr algn="r" rtl="1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fa-IR" sz="1600" dirty="0">
                <a:solidFill>
                  <a:sysClr val="windowText" lastClr="000000"/>
                </a:solidFill>
                <a:cs typeface="2  Nazanin" panose="00000400000000000000" pitchFamily="2" charset="-78"/>
              </a:rPr>
              <a:t>  الی 1404 و عضو کارگروه  محتوائی  موزه ها .</a:t>
            </a:r>
          </a:p>
        </p:txBody>
      </p:sp>
    </p:spTree>
    <p:extLst>
      <p:ext uri="{BB962C8B-B14F-4D97-AF65-F5344CB8AC3E}">
        <p14:creationId xmlns:p14="http://schemas.microsoft.com/office/powerpoint/2010/main" val="179735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3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C7AAC9-8F94-4BD3-B468-10B90999CECA}"/>
              </a:ext>
            </a:extLst>
          </p:cNvPr>
          <p:cNvSpPr txBox="1"/>
          <p:nvPr/>
        </p:nvSpPr>
        <p:spPr>
          <a:xfrm>
            <a:off x="404921" y="8966250"/>
            <a:ext cx="59262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000" b="1" u="sng" dirty="0">
                <a:cs typeface="B Badr" panose="00000400000000000000" pitchFamily="2" charset="-78"/>
              </a:rPr>
              <a:t>مدیر آزمایشگاه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A6A5CD-0391-462F-908D-326C8F7B22E6}"/>
              </a:ext>
            </a:extLst>
          </p:cNvPr>
          <p:cNvSpPr/>
          <p:nvPr/>
        </p:nvSpPr>
        <p:spPr>
          <a:xfrm>
            <a:off x="4328160" y="9450287"/>
            <a:ext cx="198960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b="1" dirty="0">
                <a:cs typeface="B Badr" panose="00000400000000000000" pitchFamily="2" charset="-78"/>
              </a:rPr>
              <a:t>امیر ربیعی فر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2A8785-1823-400B-8CCA-02D09DBCD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48" y="9047530"/>
            <a:ext cx="1797787" cy="2397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E85FE3-BD7B-4F82-B303-BA66BACDB47D}"/>
              </a:ext>
            </a:extLst>
          </p:cNvPr>
          <p:cNvSpPr txBox="1"/>
          <p:nvPr/>
        </p:nvSpPr>
        <p:spPr>
          <a:xfrm>
            <a:off x="2924752" y="9999102"/>
            <a:ext cx="3429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dirty="0">
                <a:cs typeface="B Nazanin" panose="00000400000000000000" pitchFamily="2" charset="-78"/>
              </a:rPr>
              <a:t>دکتری تخصصی عمران – گرایش ژئوتکنیک  دانشگاه آزاد اسلامی – واحد تهران مرکز 1402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D01C6C-D88A-4BC8-87C7-6B187206EAF3}"/>
              </a:ext>
            </a:extLst>
          </p:cNvPr>
          <p:cNvSpPr txBox="1"/>
          <p:nvPr/>
        </p:nvSpPr>
        <p:spPr>
          <a:xfrm>
            <a:off x="492056" y="616542"/>
            <a:ext cx="59262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000" b="1" u="sng" dirty="0">
                <a:cs typeface="B Badr" panose="00000400000000000000" pitchFamily="2" charset="-78"/>
              </a:rPr>
              <a:t>معاونت فنی و نظارت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DCA38-8D07-4F43-AB6D-1C03D784DB5B}"/>
              </a:ext>
            </a:extLst>
          </p:cNvPr>
          <p:cNvSpPr/>
          <p:nvPr/>
        </p:nvSpPr>
        <p:spPr>
          <a:xfrm>
            <a:off x="5336983" y="1181859"/>
            <a:ext cx="106792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b="1" dirty="0">
                <a:cs typeface="B Badr" panose="00000400000000000000" pitchFamily="2" charset="-78"/>
              </a:rPr>
              <a:t>احمد نادری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24562B-910D-4A38-B90C-03769E7427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56" y="612497"/>
            <a:ext cx="1770142" cy="2360848"/>
          </a:xfrm>
          <a:prstGeom prst="rect">
            <a:avLst/>
          </a:prstGeom>
        </p:spPr>
      </p:pic>
      <p:sp>
        <p:nvSpPr>
          <p:cNvPr id="11" name="Rectangle 8">
            <a:extLst>
              <a:ext uri="{FF2B5EF4-FFF2-40B4-BE49-F238E27FC236}">
                <a16:creationId xmlns:a16="http://schemas.microsoft.com/office/drawing/2014/main" id="{42555C64-7919-407F-AAC2-5E0D81CCB5CF}"/>
              </a:ext>
            </a:extLst>
          </p:cNvPr>
          <p:cNvSpPr>
            <a:extLst>
              <a:ext uri="smNativeData">
                <pr:smNativeData xmlns="" xmlns:p14="http://schemas.microsoft.com/office/powerpoint/2010/main" xmlns:pr="smNativeData" val="SMDATA_13_GgiUXh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////AQAAAAAAAAAAAAAAAAAAAAAAAAAAAAAAAAAAAAAAAAAAAAAAAH9/fwDe9foDzMzMAMDA/wB/f38AAAAAAAAAAAAAAAAAAAAAAAAAAAAhAAAAGAAAABQAAABJIgAAog0AAOcuAADnDwAAACAAACYAAAAIAAAA//////////8="/>
              </a:ext>
            </a:extLst>
          </p:cNvSpPr>
          <p:nvPr/>
        </p:nvSpPr>
        <p:spPr>
          <a:xfrm>
            <a:off x="3164971" y="1747176"/>
            <a:ext cx="3239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400" dirty="0">
                <a:cs typeface="2  Baran" panose="00000400000000000000" pitchFamily="2" charset="-78"/>
              </a:rPr>
              <a:t>فوق لیسانس مهندسی</a:t>
            </a:r>
            <a:r>
              <a:rPr lang="ar-SA" sz="1400" dirty="0">
                <a:cs typeface="2  Baran" panose="00000400000000000000" pitchFamily="2" charset="-78"/>
              </a:rPr>
              <a:t> </a:t>
            </a:r>
            <a:r>
              <a:rPr lang="fa-IR" sz="1400" dirty="0">
                <a:cs typeface="2  Baran" panose="00000400000000000000" pitchFamily="2" charset="-78"/>
              </a:rPr>
              <a:t>معماری دانشگاه تهران  سال 1375  </a:t>
            </a:r>
            <a:r>
              <a:rPr lang="ar-SA" sz="1400" dirty="0">
                <a:cs typeface="2  Baran" panose="00000400000000000000" pitchFamily="2" charset="-78"/>
              </a:rPr>
              <a:t> </a:t>
            </a:r>
            <a:endParaRPr lang="en-US" sz="1400" dirty="0">
              <a:cs typeface="2  Baran" panose="00000400000000000000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A1C315-558C-4012-B793-FBD689157221}"/>
              </a:ext>
            </a:extLst>
          </p:cNvPr>
          <p:cNvSpPr txBox="1"/>
          <p:nvPr/>
        </p:nvSpPr>
        <p:spPr>
          <a:xfrm>
            <a:off x="531892" y="6220798"/>
            <a:ext cx="59262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000" b="1" u="sng" dirty="0">
                <a:cs typeface="B Badr" panose="00000400000000000000" pitchFamily="2" charset="-78"/>
              </a:rPr>
              <a:t>مدیر نظارت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005D6-A7CB-42ED-9FC9-537197308CEA}"/>
              </a:ext>
            </a:extLst>
          </p:cNvPr>
          <p:cNvSpPr/>
          <p:nvPr/>
        </p:nvSpPr>
        <p:spPr>
          <a:xfrm>
            <a:off x="5376819" y="6786115"/>
            <a:ext cx="106792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b="1" dirty="0">
                <a:cs typeface="B Badr" panose="00000400000000000000" pitchFamily="2" charset="-78"/>
              </a:rPr>
              <a:t>سعید رفیعی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9F54E3-E662-49D9-810A-CB516C992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93" y="6220798"/>
            <a:ext cx="1770142" cy="2360848"/>
          </a:xfrm>
          <a:prstGeom prst="rect">
            <a:avLst/>
          </a:prstGeom>
        </p:spPr>
      </p:pic>
      <p:sp>
        <p:nvSpPr>
          <p:cNvPr id="15" name="Rectangle 8">
            <a:extLst>
              <a:ext uri="{FF2B5EF4-FFF2-40B4-BE49-F238E27FC236}">
                <a16:creationId xmlns:a16="http://schemas.microsoft.com/office/drawing/2014/main" id="{902C5A05-0F8D-411F-A8F9-BD2C4A61AC06}"/>
              </a:ext>
            </a:extLst>
          </p:cNvPr>
          <p:cNvSpPr>
            <a:extLst>
              <a:ext uri="smNativeData">
                <pr:smNativeData xmlns="" xmlns:p14="http://schemas.microsoft.com/office/powerpoint/2010/main" xmlns:pr="smNativeData" val="SMDATA_13_GgiUXh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////AQAAAAAAAAAAAAAAAAAAAAAAAAAAAAAAAAAAAAAAAAAAAAAAAH9/fwDe9foDzMzMAMDA/wB/f38AAAAAAAAAAAAAAAAAAAAAAAAAAAAhAAAAGAAAABQAAABJIgAAog0AAOcuAADnDwAAACAAACYAAAAIAAAA//////////8="/>
              </a:ext>
            </a:extLst>
          </p:cNvSpPr>
          <p:nvPr/>
        </p:nvSpPr>
        <p:spPr>
          <a:xfrm>
            <a:off x="2262198" y="7334930"/>
            <a:ext cx="4170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dirty="0">
                <a:cs typeface="2  Baran" panose="00000400000000000000" pitchFamily="2" charset="-78"/>
              </a:rPr>
              <a:t>فوق لیسانس مهندسی</a:t>
            </a:r>
            <a:r>
              <a:rPr lang="ar-SA" sz="1600" dirty="0">
                <a:cs typeface="2  Baran" panose="00000400000000000000" pitchFamily="2" charset="-78"/>
              </a:rPr>
              <a:t> </a:t>
            </a:r>
            <a:r>
              <a:rPr lang="fa-IR" sz="1600" dirty="0">
                <a:cs typeface="2  Baran" panose="00000400000000000000" pitchFamily="2" charset="-78"/>
              </a:rPr>
              <a:t>عمران دانشگاه علم و صنعت ایران سال 1394  </a:t>
            </a:r>
            <a:r>
              <a:rPr lang="ar-SA" sz="1600" dirty="0">
                <a:cs typeface="2  Baran" panose="00000400000000000000" pitchFamily="2" charset="-78"/>
              </a:rPr>
              <a:t> </a:t>
            </a:r>
            <a:endParaRPr lang="en-US" sz="1600" dirty="0">
              <a:cs typeface="2  Baran" panose="00000400000000000000" pitchFamily="2" charset="-78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D1D7D879-D014-4D5D-9183-6B81C9AB390E}"/>
              </a:ext>
            </a:extLst>
          </p:cNvPr>
          <p:cNvSpPr>
            <a:extLst>
              <a:ext uri="smNativeData">
                <pr:smNativeData xmlns="" xmlns:p14="http://schemas.microsoft.com/office/powerpoint/2010/main" xmlns:pr="smNativeData" val="SMDATA_13_GgiUXh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////AQAAAAAAAAAAAAAAAAAAAAAAAAAAAAAAAAAAAAAAAAAAAAAAAH9/fwDe9foDzMzMAMDA/wB/f38AAAAAAAAAAAAAAAAAAAAAAAAAAAAhAAAAGAAAABQAAAA/IgAAAgsAAOcuAABIDQAAACAAACYAAAAIAAAA//////////8="/>
              </a:ext>
            </a:extLst>
          </p:cNvSpPr>
          <p:nvPr/>
        </p:nvSpPr>
        <p:spPr>
          <a:xfrm>
            <a:off x="3586480" y="7715999"/>
            <a:ext cx="27949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dirty="0">
                <a:cs typeface="2  Baran" panose="00000400000000000000" pitchFamily="2" charset="-78"/>
              </a:rPr>
              <a:t>پایه دو نظام مهندسی با بیش از 10سال سابقه    </a:t>
            </a:r>
            <a:endParaRPr lang="en-US" sz="1600" dirty="0">
              <a:cs typeface="2  Baran" panose="00000400000000000000" pitchFamily="2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D69A99-9D56-40E9-BD36-37B6732D0EAF}"/>
              </a:ext>
            </a:extLst>
          </p:cNvPr>
          <p:cNvSpPr txBox="1"/>
          <p:nvPr/>
        </p:nvSpPr>
        <p:spPr>
          <a:xfrm>
            <a:off x="515325" y="3430761"/>
            <a:ext cx="59262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000" b="1" u="sng" dirty="0">
                <a:cs typeface="B Badr" panose="00000400000000000000" pitchFamily="2" charset="-78"/>
              </a:rPr>
              <a:t>مدیر مطالعات و طراحی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E7F82C-A3C7-414F-A3FC-4A3DCD7EBC65}"/>
              </a:ext>
            </a:extLst>
          </p:cNvPr>
          <p:cNvSpPr/>
          <p:nvPr/>
        </p:nvSpPr>
        <p:spPr>
          <a:xfrm>
            <a:off x="5360252" y="3996078"/>
            <a:ext cx="106792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b="1" dirty="0">
                <a:cs typeface="B Badr" panose="00000400000000000000" pitchFamily="2" charset="-78"/>
              </a:rPr>
              <a:t>مهدی نوری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96F0D19-5ED8-45DA-8F67-EF5C984FA7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25" y="3425329"/>
            <a:ext cx="1786710" cy="2382944"/>
          </a:xfrm>
          <a:prstGeom prst="rect">
            <a:avLst/>
          </a:prstGeom>
        </p:spPr>
      </p:pic>
      <p:sp>
        <p:nvSpPr>
          <p:cNvPr id="25" name="Rectangle 8">
            <a:extLst>
              <a:ext uri="{FF2B5EF4-FFF2-40B4-BE49-F238E27FC236}">
                <a16:creationId xmlns:a16="http://schemas.microsoft.com/office/drawing/2014/main" id="{604DF374-9E52-49F4-B871-DE819A0EA762}"/>
              </a:ext>
            </a:extLst>
          </p:cNvPr>
          <p:cNvSpPr>
            <a:extLst>
              <a:ext uri="smNativeData">
                <pr:smNativeData xmlns="" xmlns:p14="http://schemas.microsoft.com/office/powerpoint/2010/main" xmlns:pr="smNativeData" val="SMDATA_13_GgiUXh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////AQAAAAAAAAAAAAAAAAAAAAAAAAAAAAAAAAAAAAAAAAAAAAAAAH9/fwDe9foDzMzMAMDA/wB/f38AAAAAAAAAAAAAAAAAAAAAAAAAAAAhAAAAGAAAABQAAABJIgAAog0AAOcuAADnDwAAACAAACYAAAAIAAAA//////////8="/>
              </a:ext>
            </a:extLst>
          </p:cNvSpPr>
          <p:nvPr/>
        </p:nvSpPr>
        <p:spPr>
          <a:xfrm>
            <a:off x="2769698" y="4515415"/>
            <a:ext cx="3671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dirty="0">
                <a:cs typeface="2  Baran" panose="00000400000000000000" pitchFamily="2" charset="-78"/>
              </a:rPr>
              <a:t>فوق لیسانس مهندسی معماری دانشگاه آزاد اسلامی 1395</a:t>
            </a:r>
            <a:endParaRPr lang="en-US" sz="1600" dirty="0">
              <a:cs typeface="2  Baran" panose="00000400000000000000" pitchFamily="2" charset="-78"/>
            </a:endParaRP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D3F7DBCC-DF32-4877-BBE1-ADC2483277C7}"/>
              </a:ext>
            </a:extLst>
          </p:cNvPr>
          <p:cNvSpPr>
            <a:extLst>
              <a:ext uri="smNativeData">
                <pr:smNativeData xmlns="" xmlns:p14="http://schemas.microsoft.com/office/powerpoint/2010/main" xmlns:pr="smNativeData" val="SMDATA_13_GgiUXh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////AQAAAAAAAAAAAAAAAAAAAAAAAAAAAAAAAAAAAAAAAAAAAAAAAH9/fwDe9foDzMzMAMDA/wB/f38AAAAAAAAAAAAAAAAAAAAAAAAAAAAhAAAAGAAAABQAAAA/IgAAAgsAAOcuAABIDQAAACAAACYAAAAIAAAA//////////8="/>
              </a:ext>
            </a:extLst>
          </p:cNvSpPr>
          <p:nvPr/>
        </p:nvSpPr>
        <p:spPr>
          <a:xfrm>
            <a:off x="3227201" y="4996087"/>
            <a:ext cx="31887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dirty="0">
                <a:cs typeface="2  Baran" panose="00000400000000000000" pitchFamily="2" charset="-78"/>
              </a:rPr>
              <a:t>پایه یک نظام مهندسی با بیش از 22 سال سابقه </a:t>
            </a:r>
            <a:endParaRPr lang="en-US" sz="1600" dirty="0">
              <a:cs typeface="2  Baran" panose="00000400000000000000" pitchFamily="2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665265-CE2D-48AB-8F9A-84B61CA1AD45}"/>
              </a:ext>
            </a:extLst>
          </p:cNvPr>
          <p:cNvSpPr txBox="1"/>
          <p:nvPr/>
        </p:nvSpPr>
        <p:spPr>
          <a:xfrm>
            <a:off x="2924752" y="10662915"/>
            <a:ext cx="342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dirty="0">
                <a:cs typeface="B Nazanin" panose="00000400000000000000" pitchFamily="2" charset="-78"/>
              </a:rPr>
              <a:t>پایه یک  نظام مهندسی ساختمان استان تهران</a:t>
            </a: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F5806FCD-6CF2-4E41-A791-EA1B7FCC9EC4}"/>
              </a:ext>
            </a:extLst>
          </p:cNvPr>
          <p:cNvSpPr>
            <a:extLst>
              <a:ext uri="smNativeData">
                <pr:smNativeData xmlns="" xmlns:p14="http://schemas.microsoft.com/office/powerpoint/2010/main" xmlns:pr="smNativeData" val="SMDATA_13_GgiUXh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////AQAAAAAAAAAAAAAAAAAAAAAAAAAAAAAAAAAAAAAAAAAAAAAAAH9/fwDe9foDzMzMAMDA/wB/f38AAAAAAAAAAAAAAAAAAAAAAAAAAAAhAAAAGAAAABQAAAA/IgAAAgsAAOcuAABIDQAAACAAACYAAAAIAAAA//////////8="/>
              </a:ext>
            </a:extLst>
          </p:cNvSpPr>
          <p:nvPr/>
        </p:nvSpPr>
        <p:spPr>
          <a:xfrm>
            <a:off x="2466932" y="11029749"/>
            <a:ext cx="3886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dirty="0">
                <a:cs typeface="B Nazanin" panose="00000400000000000000" pitchFamily="2" charset="-78"/>
              </a:rPr>
              <a:t>مدرس دوره های ارتقا پایه نظام مهندسی ساختمان استان تهران با بیش از 13 سال سابقه </a:t>
            </a:r>
            <a:endParaRPr lang="en-US" sz="1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1582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2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2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7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5" grpId="0"/>
      <p:bldP spid="26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68F804-8C0F-4A69-8BE8-80786A8C68FD}"/>
              </a:ext>
            </a:extLst>
          </p:cNvPr>
          <p:cNvSpPr txBox="1"/>
          <p:nvPr/>
        </p:nvSpPr>
        <p:spPr>
          <a:xfrm>
            <a:off x="492056" y="616542"/>
            <a:ext cx="59262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000" b="1" u="sng" dirty="0">
                <a:cs typeface="B Badr" panose="00000400000000000000" pitchFamily="2" charset="-78"/>
              </a:rPr>
              <a:t>مدیر طرح و برنامه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B24767-20DC-4B3F-9967-91A854E99AC8}"/>
              </a:ext>
            </a:extLst>
          </p:cNvPr>
          <p:cNvSpPr/>
          <p:nvPr/>
        </p:nvSpPr>
        <p:spPr>
          <a:xfrm>
            <a:off x="4460241" y="1181859"/>
            <a:ext cx="194466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b="1" dirty="0">
                <a:cs typeface="B Badr" panose="00000400000000000000" pitchFamily="2" charset="-78"/>
              </a:rPr>
              <a:t>حامد یزدان پناه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8922421B-AEC1-41ED-B90B-BD6EC7F7A18A}"/>
              </a:ext>
            </a:extLst>
          </p:cNvPr>
          <p:cNvSpPr>
            <a:extLst>
              <a:ext uri="smNativeData">
                <pr:smNativeData xmlns="" xmlns:p14="http://schemas.microsoft.com/office/powerpoint/2010/main" xmlns:pr="smNativeData" val="SMDATA_13_GgiUXh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////AQAAAAAAAAAAAAAAAAAAAAAAAAAAAAAAAAAAAAAAAAAAAAAAAH9/fwDe9foDzMzMAMDA/wB/f38AAAAAAAAAAAAAAAAAAAAAAAAAAAAhAAAAGAAAABQAAABJIgAAog0AAOcuAADnDwAAACAAACYAAAAIAAAA//////////8="/>
              </a:ext>
            </a:extLst>
          </p:cNvSpPr>
          <p:nvPr/>
        </p:nvSpPr>
        <p:spPr>
          <a:xfrm>
            <a:off x="3178360" y="1678888"/>
            <a:ext cx="32399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dirty="0">
                <a:cs typeface="2  Baran" panose="00000400000000000000" pitchFamily="2" charset="-78"/>
              </a:rPr>
              <a:t>لیسانس مهندسی صنایع گرایش تحلیل سیستم ها دانشگاه آزاد اسلامی واحد تهران جنوب 1384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7F441-0582-4943-A19D-D3A899C4090F}"/>
              </a:ext>
            </a:extLst>
          </p:cNvPr>
          <p:cNvSpPr>
            <a:extLst>
              <a:ext uri="smNativeData">
                <pr:smNativeData xmlns="" xmlns:p14="http://schemas.microsoft.com/office/powerpoint/2010/main" xmlns:pr="smNativeData" val="SMDATA_13_GgiUXh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////AQAAAAAAAAAAAAAAAAAAAAAAAAAAAAAAAAAAAAAAAAAAAAAAAH9/fwDe9foDzMzMAMDA/wB/f38AAAAAAAAAAAAAAAAAAAAAAAAAAAAhAAAAGAAAABQAAAA/IgAAAgsAAOcuAABIDQAAACAAACYAAAAIAAAA//////////8="/>
              </a:ext>
            </a:extLst>
          </p:cNvSpPr>
          <p:nvPr/>
        </p:nvSpPr>
        <p:spPr>
          <a:xfrm>
            <a:off x="4045206" y="2327882"/>
            <a:ext cx="23596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dirty="0">
                <a:cs typeface="B Nazanin" panose="00000400000000000000" pitchFamily="2" charset="-78"/>
              </a:rPr>
              <a:t>با بیش از 16 سال سابقه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A4C9B9-AD7D-42E8-B7F4-060C6866F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33" y="425911"/>
            <a:ext cx="1878941" cy="25059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AC60A3-A9DA-473A-9663-AD3DD0577DFE}"/>
              </a:ext>
            </a:extLst>
          </p:cNvPr>
          <p:cNvSpPr txBox="1"/>
          <p:nvPr/>
        </p:nvSpPr>
        <p:spPr>
          <a:xfrm>
            <a:off x="515325" y="3336165"/>
            <a:ext cx="59262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000" b="1" u="sng" dirty="0">
                <a:cs typeface="B Badr" panose="00000400000000000000" pitchFamily="2" charset="-78"/>
              </a:rPr>
              <a:t>مدیر مالی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66DCFE-6A8E-4C04-871E-A2979ECBAA8A}"/>
              </a:ext>
            </a:extLst>
          </p:cNvPr>
          <p:cNvSpPr/>
          <p:nvPr/>
        </p:nvSpPr>
        <p:spPr>
          <a:xfrm>
            <a:off x="5360252" y="3964546"/>
            <a:ext cx="106792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b="1" dirty="0">
                <a:cs typeface="B Badr" panose="00000400000000000000" pitchFamily="2" charset="-78"/>
              </a:rPr>
              <a:t>کامیار بینا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EB0CFF9-6C2C-49B4-9999-2AAE7F9D0CD5}"/>
              </a:ext>
            </a:extLst>
          </p:cNvPr>
          <p:cNvSpPr>
            <a:extLst>
              <a:ext uri="smNativeData">
                <pr:smNativeData xmlns="" xmlns:p14="http://schemas.microsoft.com/office/powerpoint/2010/main" xmlns:pr="smNativeData" val="SMDATA_13_GgiUXh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////AQAAAAAAAAAAAAAAAAAAAAAAAAAAAAAAAAAAAAAAAAAAAAAAAH9/fwDe9foDzMzMAMDA/wB/f38AAAAAAAAAAAAAAAAAAAAAAAAAAAAhAAAAGAAAABQAAABJIgAAog0AAOcuAADnDwAAACAAACYAAAAIAAAA//////////8="/>
              </a:ext>
            </a:extLst>
          </p:cNvSpPr>
          <p:nvPr/>
        </p:nvSpPr>
        <p:spPr>
          <a:xfrm>
            <a:off x="2769698" y="4483883"/>
            <a:ext cx="3671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dirty="0">
                <a:cs typeface="2  Baran" panose="00000400000000000000" pitchFamily="2" charset="-78"/>
              </a:rPr>
              <a:t>لیسانس حسابداری</a:t>
            </a:r>
            <a:endParaRPr lang="en-US" sz="1600" dirty="0">
              <a:cs typeface="2  Baran" panose="00000400000000000000" pitchFamily="2" charset="-78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D91C6F5C-DAB1-4970-AD1C-34FCC22704B1}"/>
              </a:ext>
            </a:extLst>
          </p:cNvPr>
          <p:cNvSpPr>
            <a:extLst>
              <a:ext uri="smNativeData">
                <pr:smNativeData xmlns="" xmlns:p14="http://schemas.microsoft.com/office/powerpoint/2010/main" xmlns:pr="smNativeData" val="SMDATA_13_GgiUXh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////AQAAAAAAAAAAAAAAAAAAAAAAAAAAAAAAAAAAAAAAAAAAAAAAAH9/fwDe9foDzMzMAMDA/wB/f38AAAAAAAAAAAAAAAAAAAAAAAAAAAAhAAAAGAAAABQAAAA/IgAAAgsAAOcuAABIDQAAACAAACYAAAAIAAAA//////////8="/>
              </a:ext>
            </a:extLst>
          </p:cNvSpPr>
          <p:nvPr/>
        </p:nvSpPr>
        <p:spPr>
          <a:xfrm>
            <a:off x="3227201" y="4964555"/>
            <a:ext cx="31887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dirty="0">
                <a:cs typeface="2  Baran" panose="00000400000000000000" pitchFamily="2" charset="-78"/>
              </a:rPr>
              <a:t>با بیش از 21 سال سابقه </a:t>
            </a:r>
            <a:endParaRPr lang="en-US" sz="1600" dirty="0">
              <a:cs typeface="2  Baran" panose="00000400000000000000" pitchFamily="2" charset="-78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508B86-C7A7-4518-86A7-D750035DE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21" y="3286731"/>
            <a:ext cx="1878941" cy="25059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6EF3C1-5E18-4EF1-9E24-AA121AD93D39}"/>
              </a:ext>
            </a:extLst>
          </p:cNvPr>
          <p:cNvSpPr txBox="1"/>
          <p:nvPr/>
        </p:nvSpPr>
        <p:spPr>
          <a:xfrm>
            <a:off x="531892" y="6169298"/>
            <a:ext cx="59262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000" b="1" u="sng" dirty="0">
                <a:cs typeface="B Badr" panose="00000400000000000000" pitchFamily="2" charset="-78"/>
              </a:rPr>
              <a:t>مدیر اداری و پشتیبانی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A457CB-50AF-4F56-BE51-103D07FB7C87}"/>
              </a:ext>
            </a:extLst>
          </p:cNvPr>
          <p:cNvSpPr/>
          <p:nvPr/>
        </p:nvSpPr>
        <p:spPr>
          <a:xfrm>
            <a:off x="5376819" y="6734615"/>
            <a:ext cx="106792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b="1" dirty="0">
                <a:cs typeface="B Badr" panose="00000400000000000000" pitchFamily="2" charset="-78"/>
              </a:rPr>
              <a:t>محمد رحیمی</a:t>
            </a: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ED8CA910-37B3-42ED-820A-B1E335CDC0F1}"/>
              </a:ext>
            </a:extLst>
          </p:cNvPr>
          <p:cNvSpPr>
            <a:extLst>
              <a:ext uri="smNativeData">
                <pr:smNativeData xmlns="" xmlns:p14="http://schemas.microsoft.com/office/powerpoint/2010/main" xmlns:pr="smNativeData" val="SMDATA_13_GgiUXh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////AQAAAAAAAAAAAAAAAAAAAAAAAAAAAAAAAAAAAAAAAAAAAAAAAH9/fwDe9foDzMzMAMDA/wB/f38AAAAAAAAAAAAAAAAAAAAAAAAAAAAhAAAAGAAAABQAAABJIgAAog0AAOcuAADnDwAAACAAACYAAAAIAAAA//////////8="/>
              </a:ext>
            </a:extLst>
          </p:cNvSpPr>
          <p:nvPr/>
        </p:nvSpPr>
        <p:spPr>
          <a:xfrm>
            <a:off x="3525520" y="7283430"/>
            <a:ext cx="290702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1600" dirty="0">
                <a:cs typeface="2  Baran" panose="00000400000000000000" pitchFamily="2" charset="-78"/>
              </a:rPr>
              <a:t>لیسانس عمران دانشگاه آزاد اسلامی واحد علوم تحقیقات  1398</a:t>
            </a:r>
            <a:r>
              <a:rPr lang="ar-SA" sz="1600" dirty="0">
                <a:cs typeface="2  Baran" panose="00000400000000000000" pitchFamily="2" charset="-78"/>
              </a:rPr>
              <a:t> </a:t>
            </a:r>
            <a:endParaRPr lang="en-US" sz="1600" dirty="0">
              <a:cs typeface="2  Baran" panose="00000400000000000000" pitchFamily="2" charset="-78"/>
            </a:endParaRP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4220A14B-BB19-4CFB-B323-4585FA8F78C6}"/>
              </a:ext>
            </a:extLst>
          </p:cNvPr>
          <p:cNvSpPr>
            <a:extLst>
              <a:ext uri="smNativeData">
                <pr:smNativeData xmlns="" xmlns:p14="http://schemas.microsoft.com/office/powerpoint/2010/main" xmlns:pr="smNativeData" val="SMDATA_13_GgiUXh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////AQAAAAAAAAAAAAAAAAAAAAAAAAAAAAAAAAAAAAAAAAAAAAAAAH9/fwDe9foDzMzMAMDA/wB/f38AAAAAAAAAAAAAAAAAAAAAAAAAAAAhAAAAGAAAABQAAAA/IgAAAgsAAOcuAABIDQAAACAAACYAAAAIAAAA//////////8="/>
              </a:ext>
            </a:extLst>
          </p:cNvSpPr>
          <p:nvPr/>
        </p:nvSpPr>
        <p:spPr>
          <a:xfrm>
            <a:off x="3609989" y="8124633"/>
            <a:ext cx="27949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dirty="0">
                <a:cs typeface="2  Baran" panose="00000400000000000000" pitchFamily="2" charset="-78"/>
              </a:rPr>
              <a:t>با بیش از 7 سال سابقه    </a:t>
            </a:r>
            <a:endParaRPr lang="en-US" sz="1600" dirty="0">
              <a:cs typeface="2  Baran" panose="00000400000000000000" pitchFamily="2" charset="-7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77BE067-BE1F-4C59-93D7-7B928DF93F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09" y="6169298"/>
            <a:ext cx="1884253" cy="25130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E140A54-F629-44AA-B408-8BBEFB58F846}"/>
              </a:ext>
            </a:extLst>
          </p:cNvPr>
          <p:cNvSpPr txBox="1"/>
          <p:nvPr/>
        </p:nvSpPr>
        <p:spPr>
          <a:xfrm>
            <a:off x="542052" y="8934807"/>
            <a:ext cx="59262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000" b="1" u="sng" dirty="0">
                <a:cs typeface="B Badr" panose="00000400000000000000" pitchFamily="2" charset="-78"/>
              </a:rPr>
              <a:t>مدیر امور قراردادها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2092D0-C82C-44C4-BEF1-13478449F3BF}"/>
              </a:ext>
            </a:extLst>
          </p:cNvPr>
          <p:cNvSpPr/>
          <p:nvPr/>
        </p:nvSpPr>
        <p:spPr>
          <a:xfrm>
            <a:off x="5400368" y="9435168"/>
            <a:ext cx="106792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b="1" dirty="0">
                <a:cs typeface="B Badr" panose="00000400000000000000" pitchFamily="2" charset="-78"/>
              </a:rPr>
              <a:t>وحید جمالی</a:t>
            </a:r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3BC11868-3F2A-4493-81BC-CAB916ADD63B}"/>
              </a:ext>
            </a:extLst>
          </p:cNvPr>
          <p:cNvSpPr>
            <a:extLst>
              <a:ext uri="smNativeData">
                <pr:smNativeData xmlns="" xmlns:p14="http://schemas.microsoft.com/office/powerpoint/2010/main" xmlns:pr="smNativeData" val="SMDATA_13_GgiUXh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////AQAAAAAAAAAAAAAAAAAAAAAAAAAAAAAAAAAAAAAAAAAAAAAAAH9/fwDe9foDzMzMAMDA/wB/f38AAAAAAAAAAAAAAAAAAAAAAAAAAAAhAAAAGAAAABQAAABJIgAAog0AAOcuAADnDwAAACAAACYAAAAIAAAA//////////8="/>
              </a:ext>
            </a:extLst>
          </p:cNvSpPr>
          <p:nvPr/>
        </p:nvSpPr>
        <p:spPr>
          <a:xfrm>
            <a:off x="3666868" y="10022852"/>
            <a:ext cx="280142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1600" dirty="0">
                <a:cs typeface="B Nazanin" panose="00000400000000000000" pitchFamily="2" charset="-78"/>
              </a:rPr>
              <a:t>فوق لیسانس مهندسی عمران دانشگاه آزاد اسلامی واحد علوم تحقیقات 1392 </a:t>
            </a: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D1AE428A-1B40-4B28-9F3B-F62478D5DA6C}"/>
              </a:ext>
            </a:extLst>
          </p:cNvPr>
          <p:cNvSpPr>
            <a:extLst>
              <a:ext uri="smNativeData">
                <pr:smNativeData xmlns="" xmlns:p14="http://schemas.microsoft.com/office/powerpoint/2010/main" xmlns:pr="smNativeData" val="SMDATA_13_GgiUXhMAAAAlAAAAZAAAAE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////AQAAAAAAAAAAAAAAAAAAAAAAAAAAAAAAAAAAAAAAAAAAAAAAAH9/fwDe9foDzMzMAMDA/wB/f38AAAAAAAAAAAAAAAAAAAAAAAAAAAAhAAAAGAAAABQAAAA/IgAAAgsAAOcuAABIDQAAACAAACYAAAAIAAAA//////////8="/>
              </a:ext>
            </a:extLst>
          </p:cNvSpPr>
          <p:nvPr/>
        </p:nvSpPr>
        <p:spPr>
          <a:xfrm>
            <a:off x="3666868" y="10823071"/>
            <a:ext cx="279458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1600" dirty="0">
                <a:cs typeface="B Nazanin" panose="00000400000000000000" pitchFamily="2" charset="-78"/>
              </a:rPr>
              <a:t>دارای پایه دو نظام مهندسی با بیش از 16سال سابقه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0025ABA-0914-4763-8249-6467949187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65" y="9079013"/>
            <a:ext cx="1890897" cy="252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1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2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2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3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  <p:bldP spid="17" grpId="0"/>
      <p:bldP spid="18" grpId="0"/>
      <p:bldP spid="25" grpId="0"/>
      <p:bldP spid="26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259</TotalTime>
  <Words>780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Copperplate Gothic Bold</vt:lpstr>
      <vt:lpstr>IranNastaliq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Morteza Milani</dc:creator>
  <cp:lastModifiedBy>Morteza Milani</cp:lastModifiedBy>
  <cp:revision>100</cp:revision>
  <dcterms:created xsi:type="dcterms:W3CDTF">2026-07-28T03:57:38Z</dcterms:created>
  <dcterms:modified xsi:type="dcterms:W3CDTF">2026-08-09T01:14:33Z</dcterms:modified>
</cp:coreProperties>
</file>